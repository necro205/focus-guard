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65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874520"/>
            <a:ext cx="1005840" cy="1005840"/>
          </a:xfrm>
          <a:prstGeom prst="ellipse">
            <a:avLst/>
          </a:prstGeom>
          <a:solidFill>
            <a:srgbClr val="0A0E13"/>
          </a:solidFill>
          <a:ln w="2540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733288" y="2029968"/>
            <a:ext cx="694944" cy="694944"/>
          </a:xfrm>
          <a:prstGeom prst="ellipse">
            <a:avLst/>
          </a:prstGeom>
          <a:solidFill>
            <a:srgbClr val="0A0E13"/>
          </a:solidFill>
          <a:ln w="2540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897880" y="2194560"/>
            <a:ext cx="365760" cy="365760"/>
          </a:xfrm>
          <a:prstGeom prst="ellipse">
            <a:avLst/>
          </a:prstGeom>
          <a:solidFill>
            <a:srgbClr val="0A0E13"/>
          </a:solidFill>
          <a:ln w="2540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025896" y="2322576"/>
            <a:ext cx="109728" cy="10972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/ GUARD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0" y="40233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Intelligent Study Session Monitor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09160" y="4663440"/>
            <a:ext cx="2743200" cy="0"/>
          </a:xfrm>
          <a:prstGeom prst="line">
            <a:avLst/>
          </a:prstGeom>
          <a:noFill/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Computer Vision</a:t>
            </a:r>
            <a:r>
              <a:rPr lang="en-US" sz="1100" b="1" kern="0" spc="3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100" b="1" kern="0" spc="3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Structures</a:t>
            </a:r>
            <a:r>
              <a:rPr lang="en-US" sz="1100" b="1" kern="0" spc="3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100" b="1" kern="0" spc="3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576072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RAMAZAN KARAGOZ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0" y="60350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9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Course Project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Studying in the age of infinite distractions.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47%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waking hours spent on digital devices by the average student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challenges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092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 at reach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60920" y="2834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 break focus every 11 minutes on average.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7033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3657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Passive fatigue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60920" y="4023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Drowsiness and eye-strain reduce comprehension silently.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8920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4846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media pull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360920" y="5212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 switching steals hours of productive study time.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5760720"/>
            <a:ext cx="10972800" cy="0"/>
          </a:xfrm>
          <a:prstGeom prst="line">
            <a:avLst/>
          </a:prstGeom>
          <a:noFill/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2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the computer itself could be the monitor?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FOCUSGUARD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FocusGuard.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FocusGuard </a:t>
            </a:r>
            <a:r>
              <a:rPr lang="en-US" sz="17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 Python desktop application that silently observes a study session through the webcam and the operating system, detects distractions in real time, and produces a detailed statistical report on completion.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3566160" cy="246888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947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4480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" y="4846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Tracks face, eyes, head orientation, and phone presence.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3474720"/>
            <a:ext cx="3566160" cy="246888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7947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4480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663440" y="4846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Stores events in custom data structures indexed by time.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38160" y="3474720"/>
            <a:ext cx="3566160" cy="246888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7947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12480" y="4480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412480" y="4846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Produces an editorial-style statistical report on finish.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FOCUSGUARD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cooperating layers.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66160" cy="438912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Layer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914400" cy="0"/>
          </a:xfrm>
          <a:prstGeom prst="line">
            <a:avLst/>
          </a:prstGeom>
          <a:noFill/>
          <a:ln w="1905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MediaPipe face mesh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YOLOv8 phone detector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Active window monitor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566160" cy="438912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663440" y="2011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6344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Structures Layer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611880"/>
            <a:ext cx="914400" cy="0"/>
          </a:xfrm>
          <a:prstGeom prst="line">
            <a:avLst/>
          </a:prstGeom>
          <a:noFill/>
          <a:ln w="1905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663440" y="38404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Deque sliding window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Hash map per-minute stats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Min-heap alert priority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Interval tree ranges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566160" cy="438912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412480" y="2011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41248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Layer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 &amp; reporting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0" y="3611880"/>
            <a:ext cx="914400" cy="0"/>
          </a:xfrm>
          <a:prstGeom prst="line">
            <a:avLst/>
          </a:prstGeom>
          <a:noFill/>
          <a:ln w="1905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8412480" y="38404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Descriptive statistics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Shapiro-Wilk normality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Pearson correlation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HTML report generator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FOCUSGUARD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LAYER 01 · DETECTION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sees.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214884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Face + Head Pose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2331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MediaPipe Face Mesh · 468 landmarks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Calculates yaw/pitch via solvePnP to detect if the user is looking at the screen. Eye Aspect Ratio (EAR) tracks eye closure for fatigue detection.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486400" cy="214884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0116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 Detection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223760" y="2331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YOLOv8n · COCO class 67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583680" y="27432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Pretrained object detection runs every 2 seconds, flagging any phone visible in frame above 45% confidence threshold.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486400" cy="214884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434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297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Window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554480" y="4663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pygetwindow · keyword matching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914400" y="50749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Polls the foreground window title every 1.5 seconds and classifies it as productive, social media, or unknown via keyword heuristics.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4069080"/>
            <a:ext cx="5486400" cy="214884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34340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4297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Alerts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223760" y="4663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Min-heap priority queue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583680" y="50749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Distractions enter a priority queue; the most urgent surface as desktop notifications with a 20-second cooldown.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FOCUSGUARD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LAYER 02 · ALGORITHM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focus score is computed.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AVERAGE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event contributes a focus value to a 60-second sliding window. The score is the arithmetic mean of these contributions.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5303520" cy="109728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</a:t>
            </a:r>
            <a:r>
              <a:rPr lang="en-US" sz="20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contribution(eᵢ)</a:t>
            </a:r>
            <a:r>
              <a:rPr lang="en-US" sz="2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</a:t>
            </a:r>
            <a:r>
              <a:rPr lang="en-US" sz="20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|window|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</a:t>
            </a: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Frame-rate independent (no penalty accumulation)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</a:t>
            </a: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Naturally bounded to [0, 100]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</a:t>
            </a: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Recovers quickly when user returns to focus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CONTRIBUTIONS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2313432"/>
            <a:ext cx="2926080" cy="274320"/>
          </a:xfrm>
          <a:prstGeom prst="rect">
            <a:avLst/>
          </a:prstGeom>
          <a:solidFill>
            <a:srgbClr val="1A233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6583680" y="2313432"/>
            <a:ext cx="2926080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675120" y="2313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E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Focused / Productive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788920"/>
            <a:ext cx="2926080" cy="274320"/>
          </a:xfrm>
          <a:prstGeom prst="rect">
            <a:avLst/>
          </a:prstGeom>
          <a:solidFill>
            <a:srgbClr val="1A233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6583680" y="2788920"/>
            <a:ext cx="2048256" cy="274320"/>
          </a:xfrm>
          <a:prstGeom prst="rect">
            <a:avLst/>
          </a:prstGeom>
          <a:solidFill>
            <a:srgbClr val="8B98A5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67512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E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app (unknown)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0" y="27614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3264408"/>
            <a:ext cx="2926080" cy="274320"/>
          </a:xfrm>
          <a:prstGeom prst="rect">
            <a:avLst/>
          </a:prstGeom>
          <a:solidFill>
            <a:srgbClr val="1A233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6583680" y="3264408"/>
            <a:ext cx="1609344" cy="274320"/>
          </a:xfrm>
          <a:prstGeom prst="rect">
            <a:avLst/>
          </a:prstGeom>
          <a:solidFill>
            <a:srgbClr val="D2992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675120" y="3264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E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away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92640" y="32369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739896"/>
            <a:ext cx="2926080" cy="274320"/>
          </a:xfrm>
          <a:prstGeom prst="rect">
            <a:avLst/>
          </a:prstGeom>
          <a:solidFill>
            <a:srgbClr val="1A233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6583680" y="3739896"/>
            <a:ext cx="1170432" cy="274320"/>
          </a:xfrm>
          <a:prstGeom prst="rect">
            <a:avLst/>
          </a:prstGeom>
          <a:solidFill>
            <a:srgbClr val="D2992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675120" y="3739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Eyes closed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92640" y="37124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4215384"/>
            <a:ext cx="2926080" cy="274320"/>
          </a:xfrm>
          <a:prstGeom prst="rect">
            <a:avLst/>
          </a:prstGeom>
          <a:solidFill>
            <a:srgbClr val="1A233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6583680" y="4215384"/>
            <a:ext cx="877824" cy="274320"/>
          </a:xfrm>
          <a:prstGeom prst="rect">
            <a:avLst/>
          </a:prstGeom>
          <a:solidFill>
            <a:srgbClr val="D2992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675120" y="4215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at desk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92640" y="4187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4690872"/>
            <a:ext cx="2926080" cy="274320"/>
          </a:xfrm>
          <a:prstGeom prst="rect">
            <a:avLst/>
          </a:prstGeom>
          <a:solidFill>
            <a:srgbClr val="1A233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6583680" y="4690872"/>
            <a:ext cx="438912" cy="274320"/>
          </a:xfrm>
          <a:prstGeom prst="rect">
            <a:avLst/>
          </a:prstGeom>
          <a:solidFill>
            <a:srgbClr val="F85149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6675120" y="4690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 visible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9264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0" y="5166360"/>
            <a:ext cx="2926080" cy="274320"/>
          </a:xfrm>
          <a:prstGeom prst="rect">
            <a:avLst/>
          </a:prstGeom>
          <a:solidFill>
            <a:srgbClr val="1A233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675120" y="5166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media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92640" y="51389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FOCUSGUARD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LAYER 03 · STATISTICS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events to meaningful insight.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214884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299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Statistics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Mean, median, standard deviation, IQR, and min-max range of focus scores across all minutes.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09360" y="1737360"/>
            <a:ext cx="5486400" cy="214884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0116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20299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Analysis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583680" y="27432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 on per-minute scores reveals warm-up or fatigue curves during the session.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5486400" cy="214884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434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3616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Matrix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914400" y="50749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Pearson correlation between distraction types identifies which disruptions tend to co-occur.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09360" y="4069080"/>
            <a:ext cx="5486400" cy="214884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3434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43616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Testing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583680" y="50749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Shapiro-Wilk test verifies whether the focus score distribution is normal — informing further analysis.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FOCUSGUARD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THE APP · STEP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welcome screen.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6492240" cy="3491865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presentation_v2/welcome_scree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94560"/>
            <a:ext cx="6400800" cy="34004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IMPRESSION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80960" y="2514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clean opening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80960" y="31089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welcome screen presents the four core capabilities and a single primary action — Begin Session. No clutter, no settings to configure.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43891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STARTUP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0" y="4590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 &amp; models load on Begin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0" y="4892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680960" y="5093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runs locally — no cloud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80960" y="53949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680960" y="5596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click to start a session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FOCUSGUARD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THE APP · STEP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monitoring — phone detected.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140581" cy="438912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presentation_v2/session_phon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049141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37861" y="1783080"/>
            <a:ext cx="5283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CAUGHT IN THE ACT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37861" y="2103120"/>
            <a:ext cx="528357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 visible.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237861" y="2697480"/>
            <a:ext cx="528357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YOLOv8 detects the phone in the webcam frame and registers an event each time.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37861" y="3611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197981" y="3611880"/>
            <a:ext cx="43234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 SCORE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97981" y="3904488"/>
            <a:ext cx="432345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reflects the disruption immediately.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37861" y="445312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197981" y="4453128"/>
            <a:ext cx="43234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 EVENTS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97981" y="4745736"/>
            <a:ext cx="432345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Detected in the last 60 seconds.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37861" y="5294376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7197981" y="5294376"/>
            <a:ext cx="43234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LOOKING AWAY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197981" y="5586984"/>
            <a:ext cx="432345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 pose shows attention drift.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FOCUSGUARD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THE APP · STEP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Distraction caught beyond the camera.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94560" y="1737360"/>
            <a:ext cx="7772400" cy="4157548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presentation_v2/session_so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783080"/>
            <a:ext cx="7680960" cy="40661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612350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user opens Instagram, </a:t>
            </a:r>
            <a:r>
              <a:rPr lang="en-US" sz="1300" b="1" i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FocusGuard reads the active window title</a:t>
            </a:r>
            <a:r>
              <a:rPr lang="en-US" sz="1300" i="1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classifies it as </a:t>
            </a:r>
            <a:r>
              <a:rPr lang="en-US" sz="1300" b="1" i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media</a:t>
            </a:r>
            <a:r>
              <a:rPr lang="en-US" sz="1300" i="1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the score reflects the disruption immediately. No webcam — no escape.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FOCUSGUARD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THE APP · STEP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editorial-style session report.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6949440" cy="3696176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presentation_v2/report_cove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6858000" cy="3604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INCLUDES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231136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8200" y="21762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45820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Per-minute focus scores with 5-min moving average.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94436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58200" y="28895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distribution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458200" y="3182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Breakdown of time spent in each category.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65760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58200" y="36027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matrix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8458200" y="38953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distractions co-occur, by Pearson r.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4370832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58200" y="43159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Normality test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8458200" y="46085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Shapiro-Wilk p-value for distribution analysis.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5084064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458200" y="5029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8458200" y="5321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 suggestions tailored to the session.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FOCUSGUARD</a:t>
            </a:r>
            <a:endParaRPr lang="en-US" sz="800" dirty="0"/>
          </a:p>
        </p:txBody>
      </p:sp>
      <p:sp>
        <p:nvSpPr>
          <p:cNvPr id="23" name="Text 1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66160" cy="201168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55448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3.11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application runtime.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566160" cy="201168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0116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COMPUTER VISION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30352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MediaPipe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2743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face mesh &amp; landmark detection.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66160" cy="201168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0116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5256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DETECTION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905256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YOLOv8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2743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Pretrained model for cell phone detection.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66160" cy="201168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0624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206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PROCESSING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1554480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OpenCV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14400" y="4937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 capture, color conversion, solvePnP.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566160" cy="201168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20624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03520" y="4206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5303520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 + SciPy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63440" y="4937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DataFrame operations &amp; statistical tests.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66160" cy="2011680"/>
          </a:xfrm>
          <a:prstGeom prst="rect">
            <a:avLst/>
          </a:prstGeom>
          <a:solidFill>
            <a:srgbClr val="131A22"/>
          </a:solidFill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420624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52560" y="4206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VISUALIZATION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9052560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412480" y="4937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rendering with custom editorial theme.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FOCUSGUARD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REFLECTION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and learnings.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Frame-rate instability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560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scoring algorithm accumulated penalties; score collapsed to 0 quickly. Solved via weighted-average over the sliding window.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Threading &amp; UI synchronization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9319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 loop runs in a worker thread; GUI updates every 150ms on the main thread with lock-protected shared state.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Cross-platform webcam access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53035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 required DirectShow backend; a fallback chain handles varying camera setups including phone-link virtual cameras.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04088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Big-O in practice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2560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O(1) deque over O(n) list for the sliding window is the difference between a stable 10Hz and dropped frames.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566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 matter less than formulation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39319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biggest quality leap came from reformulating the scoring function, not from changing algorithms or tuning constants.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4937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04088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= decision compression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53035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well-chosen color palette and font pairing eliminates a thousand tiny decisions down the road.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FOCUSGUARD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783080"/>
            <a:ext cx="1005840" cy="1005840"/>
          </a:xfrm>
          <a:prstGeom prst="ellipse">
            <a:avLst/>
          </a:prstGeom>
          <a:solidFill>
            <a:srgbClr val="0A0E13"/>
          </a:solidFill>
          <a:ln w="2540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733288" y="1938528"/>
            <a:ext cx="694944" cy="694944"/>
          </a:xfrm>
          <a:prstGeom prst="ellipse">
            <a:avLst/>
          </a:prstGeom>
          <a:solidFill>
            <a:srgbClr val="0A0E13"/>
          </a:solidFill>
          <a:ln w="2540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897880" y="2103120"/>
            <a:ext cx="365760" cy="365760"/>
          </a:xfrm>
          <a:prstGeom prst="ellipse">
            <a:avLst/>
          </a:prstGeom>
          <a:solidFill>
            <a:srgbClr val="0A0E13"/>
          </a:solidFill>
          <a:ln w="2540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025896" y="2231136"/>
            <a:ext cx="109728" cy="109728"/>
          </a:xfrm>
          <a:prstGeom prst="ellipse">
            <a:avLst/>
          </a:prstGeom>
          <a:solidFill>
            <a:srgbClr val="E8B9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0" y="329184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i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0" y="42976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B98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welcome.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09160" y="4846320"/>
            <a:ext cx="2743200" cy="0"/>
          </a:xfrm>
          <a:prstGeom prst="line">
            <a:avLst/>
          </a:prstGeom>
          <a:noFill/>
          <a:ln w="12700">
            <a:solidFill>
              <a:srgbClr val="2A36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0" y="502920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FOCUSGUARD</a:t>
            </a:r>
            <a:r>
              <a:rPr lang="en-US" sz="1000" kern="0" spc="400" dirty="0">
                <a:solidFill>
                  <a:srgbClr val="5D69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RAMAZAN KARAGOZ   · 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1055</Words>
  <Application>Microsoft Office PowerPoint</Application>
  <PresentationFormat>Geniş ekran</PresentationFormat>
  <Paragraphs>218</Paragraphs>
  <Slides>14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Consolas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FocusGuard</dc:title>
  <dc:subject>PptxGenJS Presentation</dc:subject>
  <dc:creator>Ramazan Karagoz</dc:creator>
  <cp:lastModifiedBy>Ramazan KARAGÖZ</cp:lastModifiedBy>
  <cp:revision>3</cp:revision>
  <dcterms:created xsi:type="dcterms:W3CDTF">2026-05-05T20:36:11Z</dcterms:created>
  <dcterms:modified xsi:type="dcterms:W3CDTF">2026-05-06T22:42:35Z</dcterms:modified>
</cp:coreProperties>
</file>